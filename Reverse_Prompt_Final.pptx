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everyone. Reverse Prompt is a team game: we show an AI-generated image, you write the prompt that recreates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things to know: there are three difficulty levels, you are scored on how closely your image matches the target, and the team with the most points wins.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round follows the same four steps. Remind teams: the clock starts the moment the image appears.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Easy: 3 minutes per image with the overview in depth. Medium: 5 minutes per image with little overview. Hard: 8 minutes and no instructions.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100 points in total. Easy is worth 20 (10 per round), Medium is worth 50 (25 per round) and the single Hard round is worth 30.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Easy round. Time limit 3:00. Overview provided in depth.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Easy round. Time limit 3:00. Overview provided in depth.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Medium round. Time limit 5:00. Little overview provided.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Medium round. Time limit 5:00. Little overview provided.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Hard round. Time limit 8:00. No instructions.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Thank the teams, then tally the scores and announce the winners.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EEE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30936" y="384048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000000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Reverse Prompt.</a:t>
            </a:r>
            <a:endParaRPr lang="en-US" sz="5400" dirty="0"/>
          </a:p>
        </p:txBody>
      </p:sp>
      <p:sp>
        <p:nvSpPr>
          <p:cNvPr id="3" name="Text 1"/>
          <p:cNvSpPr txBox="1"/>
          <p:nvPr/>
        </p:nvSpPr>
        <p:spPr>
          <a:xfrm>
            <a:off x="630936" y="18745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GDGoC - GTA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630936" y="242316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Google Sans Text" pitchFamily="34" charset="0"/>
                <a:ea typeface="Google Sans Text" pitchFamily="34" charset="-122"/>
                <a:cs typeface="Google Sans Text" pitchFamily="34" charset="-120"/>
              </a:rPr>
              <a:t>A team game: we show an AI-generated image, you write the prompt that recreates it.</a:t>
            </a:r>
            <a:endParaRPr lang="en-US" sz="1600" dirty="0"/>
          </a:p>
        </p:txBody>
      </p:sp>
      <p:pic>
        <p:nvPicPr>
          <p:cNvPr id="5" name="Image 0" descr="assets/blob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936" y="3547872"/>
            <a:ext cx="2073689" cy="777240"/>
          </a:xfrm>
          <a:prstGeom prst="rect">
            <a:avLst/>
          </a:prstGeom>
        </p:spPr>
      </p:pic>
      <p:pic>
        <p:nvPicPr>
          <p:cNvPr id="6" name="Image 1" descr="assets/star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7520" y="3483864"/>
            <a:ext cx="914400" cy="914400"/>
          </a:xfrm>
          <a:prstGeom prst="rect">
            <a:avLst/>
          </a:prstGeom>
        </p:spPr>
      </p:pic>
      <p:pic>
        <p:nvPicPr>
          <p:cNvPr id="7" name="Image 2" descr="assets/chev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75504" y="1709928"/>
            <a:ext cx="1422457" cy="822960"/>
          </a:xfrm>
          <a:prstGeom prst="rect">
            <a:avLst/>
          </a:prstGeom>
        </p:spPr>
      </p:pic>
      <p:pic>
        <p:nvPicPr>
          <p:cNvPr id="8" name="Image 3" descr="assets/dots1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6016" y="1645920"/>
            <a:ext cx="443124" cy="941832"/>
          </a:xfrm>
          <a:prstGeom prst="rect">
            <a:avLst/>
          </a:prstGeom>
        </p:spPr>
      </p:pic>
      <p:pic>
        <p:nvPicPr>
          <p:cNvPr id="9" name="Image 4" descr="assets/hash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0" y="1664208"/>
            <a:ext cx="701964" cy="914400"/>
          </a:xfrm>
          <a:prstGeom prst="rect">
            <a:avLst/>
          </a:prstGeom>
        </p:spPr>
      </p:pic>
      <p:sp>
        <p:nvSpPr>
          <p:cNvPr id="10" name="Text 3"/>
          <p:cNvSpPr txBox="1"/>
          <p:nvPr/>
        </p:nvSpPr>
        <p:spPr>
          <a:xfrm>
            <a:off x="5175504" y="3108960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100 points up for grabs.</a:t>
            </a:r>
            <a:endParaRPr lang="en-US" sz="2200" dirty="0"/>
          </a:p>
        </p:txBody>
      </p:sp>
      <p:sp>
        <p:nvSpPr>
          <p:cNvPr id="11" name="Text 4"/>
          <p:cNvSpPr txBox="1"/>
          <p:nvPr/>
        </p:nvSpPr>
        <p:spPr>
          <a:xfrm>
            <a:off x="5175504" y="3639312"/>
            <a:ext cx="3337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Google Sans Text" pitchFamily="34" charset="0"/>
                <a:ea typeface="Google Sans Text" pitchFamily="34" charset="-122"/>
                <a:cs typeface="Google Sans Text" pitchFamily="34" charset="-120"/>
              </a:rPr>
              <a:t>Three difficulties, five rounds. The team with the highest total takes the win.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EEE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30936" y="384048"/>
            <a:ext cx="6949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00000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Overview.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630936" y="1161288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F6368"/>
                </a:solidFill>
                <a:latin typeface="Google Sans Text" pitchFamily="34" charset="0"/>
                <a:ea typeface="Google Sans Text" pitchFamily="34" charset="-122"/>
                <a:cs typeface="Google Sans Text" pitchFamily="34" charset="-120"/>
              </a:rPr>
              <a:t>How the game works</a:t>
            </a:r>
            <a:endParaRPr lang="en-US" sz="1600" dirty="0"/>
          </a:p>
        </p:txBody>
      </p:sp>
      <p:pic>
        <p:nvPicPr>
          <p:cNvPr id="4" name="Image 0" descr="assets/star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27264" y="457200"/>
            <a:ext cx="685800" cy="685800"/>
          </a:xfrm>
          <a:prstGeom prst="rect">
            <a:avLst/>
          </a:prstGeom>
        </p:spPr>
      </p:pic>
      <p:pic>
        <p:nvPicPr>
          <p:cNvPr id="5" name="Image 1" descr="assets/blob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" y="1828800"/>
            <a:ext cx="1951707" cy="73152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630936" y="28803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3 Difficulties</a:t>
            </a:r>
            <a:endParaRPr lang="en-US" sz="2000" dirty="0"/>
          </a:p>
        </p:txBody>
      </p:sp>
      <p:sp>
        <p:nvSpPr>
          <p:cNvPr id="7" name="Text 3"/>
          <p:cNvSpPr txBox="1"/>
          <p:nvPr/>
        </p:nvSpPr>
        <p:spPr>
          <a:xfrm>
            <a:off x="630936" y="3337560"/>
            <a:ext cx="2423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Google Sans Text" pitchFamily="34" charset="0"/>
                <a:ea typeface="Google Sans Text" pitchFamily="34" charset="-122"/>
                <a:cs typeface="Google Sans Text" pitchFamily="34" charset="-120"/>
              </a:rPr>
              <a:t>Easy, Medium and Hard. The less help you get, the harder the round.</a:t>
            </a:r>
            <a:endParaRPr lang="en-US" sz="1400" dirty="0"/>
          </a:p>
        </p:txBody>
      </p:sp>
      <p:pic>
        <p:nvPicPr>
          <p:cNvPr id="8" name="Image 2" descr="assets/chev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1568" y="1828800"/>
            <a:ext cx="1263783" cy="731520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3401568" y="28803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Match the Image</a:t>
            </a:r>
            <a:endParaRPr lang="en-US" sz="2000" dirty="0"/>
          </a:p>
        </p:txBody>
      </p:sp>
      <p:sp>
        <p:nvSpPr>
          <p:cNvPr id="10" name="Text 5"/>
          <p:cNvSpPr txBox="1"/>
          <p:nvPr/>
        </p:nvSpPr>
        <p:spPr>
          <a:xfrm>
            <a:off x="3401568" y="3337560"/>
            <a:ext cx="2423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Google Sans Text" pitchFamily="34" charset="0"/>
                <a:ea typeface="Google Sans Text" pitchFamily="34" charset="-122"/>
                <a:cs typeface="Google Sans Text" pitchFamily="34" charset="-120"/>
              </a:rPr>
              <a:t>Points are awarded on how similar your generated image is to the one shown.</a:t>
            </a:r>
            <a:endParaRPr lang="en-US" sz="1400" dirty="0"/>
          </a:p>
        </p:txBody>
      </p:sp>
      <p:pic>
        <p:nvPicPr>
          <p:cNvPr id="11" name="Image 3" descr="assets/dots3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1828800"/>
            <a:ext cx="408707" cy="868680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6172200" y="28803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Most Points Wins</a:t>
            </a:r>
            <a:endParaRPr lang="en-US" sz="2000" dirty="0"/>
          </a:p>
        </p:txBody>
      </p:sp>
      <p:sp>
        <p:nvSpPr>
          <p:cNvPr id="13" name="Text 7"/>
          <p:cNvSpPr txBox="1"/>
          <p:nvPr/>
        </p:nvSpPr>
        <p:spPr>
          <a:xfrm>
            <a:off x="6172200" y="3337560"/>
            <a:ext cx="2423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Google Sans Text" pitchFamily="34" charset="0"/>
                <a:ea typeface="Google Sans Text" pitchFamily="34" charset="-122"/>
                <a:cs typeface="Google Sans Text" pitchFamily="34" charset="-120"/>
              </a:rPr>
              <a:t>The team with the highest total across all rounds takes the win.</a:t>
            </a:r>
            <a:endParaRPr lang="en-US" sz="1400" dirty="0"/>
          </a:p>
        </p:txBody>
      </p:sp>
      <p:sp>
        <p:nvSpPr>
          <p:cNvPr id="14" name="Text 8"/>
          <p:cNvSpPr txBox="1"/>
          <p:nvPr/>
        </p:nvSpPr>
        <p:spPr>
          <a:xfrm>
            <a:off x="630936" y="468172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368"/>
                </a:solidFill>
                <a:latin typeface="Google Sans Text" pitchFamily="34" charset="0"/>
                <a:ea typeface="Google Sans Text" pitchFamily="34" charset="-122"/>
                <a:cs typeface="Google Sans Text" pitchFamily="34" charset="-120"/>
              </a:rPr>
              <a:t>Reverse Prompt  |  GDGoC - GTA</a:t>
            </a:r>
            <a:endParaRPr lang="en-US" sz="1000" dirty="0"/>
          </a:p>
        </p:txBody>
      </p:sp>
      <p:sp>
        <p:nvSpPr>
          <p:cNvPr id="15" name="Text 9"/>
          <p:cNvSpPr txBox="1"/>
          <p:nvPr/>
        </p:nvSpPr>
        <p:spPr>
          <a:xfrm>
            <a:off x="8055864" y="468172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368"/>
                </a:solidFill>
                <a:latin typeface="Google Sans Text" pitchFamily="34" charset="0"/>
                <a:ea typeface="Google Sans Text" pitchFamily="34" charset="-122"/>
                <a:cs typeface="Google Sans Text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EEE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30936" y="384048"/>
            <a:ext cx="6949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00000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How a Round Works.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630936" y="1161288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F6368"/>
                </a:solidFill>
                <a:latin typeface="Google Sans Text" pitchFamily="34" charset="0"/>
                <a:ea typeface="Google Sans Text" pitchFamily="34" charset="-122"/>
                <a:cs typeface="Google Sans Text" pitchFamily="34" charset="-120"/>
              </a:rPr>
              <a:t>Four steps, every round</a:t>
            </a:r>
            <a:endParaRPr lang="en-US" sz="1600" dirty="0"/>
          </a:p>
        </p:txBody>
      </p:sp>
      <p:pic>
        <p:nvPicPr>
          <p:cNvPr id="4" name="Image 0" descr="assets/hash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86591" y="457200"/>
            <a:ext cx="526473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30936" y="1828800"/>
            <a:ext cx="731520" cy="731520"/>
          </a:xfrm>
          <a:prstGeom prst="ellipse">
            <a:avLst/>
          </a:prstGeom>
          <a:solidFill>
            <a:srgbClr val="C4EAF5"/>
          </a:solidFill>
          <a:ln w="28575">
            <a:solidFill>
              <a:srgbClr val="202124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30936" y="18288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630936" y="27432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See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630936" y="3200400"/>
            <a:ext cx="1783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Google Sans Text" pitchFamily="34" charset="0"/>
                <a:ea typeface="Google Sans Text" pitchFamily="34" charset="-122"/>
                <a:cs typeface="Google Sans Text" pitchFamily="34" charset="-120"/>
              </a:rPr>
              <a:t>The target image is revealed on screen.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2642616" y="1828800"/>
            <a:ext cx="731520" cy="731520"/>
          </a:xfrm>
          <a:prstGeom prst="ellipse">
            <a:avLst/>
          </a:prstGeom>
          <a:solidFill>
            <a:srgbClr val="FFE8A3"/>
          </a:solidFill>
          <a:ln w="28575">
            <a:solidFill>
              <a:srgbClr val="202124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2642616" y="18288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2</a:t>
            </a:r>
            <a:endParaRPr lang="en-US" sz="2600" dirty="0"/>
          </a:p>
        </p:txBody>
      </p:sp>
      <p:sp>
        <p:nvSpPr>
          <p:cNvPr id="11" name="Text 8"/>
          <p:cNvSpPr txBox="1"/>
          <p:nvPr/>
        </p:nvSpPr>
        <p:spPr>
          <a:xfrm>
            <a:off x="2642616" y="27432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Write</a:t>
            </a:r>
            <a:endParaRPr lang="en-US" sz="2000" dirty="0"/>
          </a:p>
        </p:txBody>
      </p:sp>
      <p:sp>
        <p:nvSpPr>
          <p:cNvPr id="12" name="Text 9"/>
          <p:cNvSpPr txBox="1"/>
          <p:nvPr/>
        </p:nvSpPr>
        <p:spPr>
          <a:xfrm>
            <a:off x="2642616" y="3200400"/>
            <a:ext cx="1783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Google Sans Text" pitchFamily="34" charset="0"/>
                <a:ea typeface="Google Sans Text" pitchFamily="34" charset="-122"/>
                <a:cs typeface="Google Sans Text" pitchFamily="34" charset="-120"/>
              </a:rPr>
              <a:t>Your team writes a prompt to recreate it.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4654296" y="1828800"/>
            <a:ext cx="731520" cy="731520"/>
          </a:xfrm>
          <a:prstGeom prst="ellipse">
            <a:avLst/>
          </a:prstGeom>
          <a:solidFill>
            <a:srgbClr val="F8D7DA"/>
          </a:solidFill>
          <a:ln w="28575">
            <a:solidFill>
              <a:srgbClr val="202124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654296" y="18288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3</a:t>
            </a:r>
            <a:endParaRPr lang="en-US" sz="2600" dirty="0"/>
          </a:p>
        </p:txBody>
      </p:sp>
      <p:sp>
        <p:nvSpPr>
          <p:cNvPr id="15" name="Text 12"/>
          <p:cNvSpPr txBox="1"/>
          <p:nvPr/>
        </p:nvSpPr>
        <p:spPr>
          <a:xfrm>
            <a:off x="4654296" y="27432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Generate</a:t>
            </a:r>
            <a:endParaRPr lang="en-US" sz="2000" dirty="0"/>
          </a:p>
        </p:txBody>
      </p:sp>
      <p:sp>
        <p:nvSpPr>
          <p:cNvPr id="16" name="Text 13"/>
          <p:cNvSpPr txBox="1"/>
          <p:nvPr/>
        </p:nvSpPr>
        <p:spPr>
          <a:xfrm>
            <a:off x="4654296" y="3200400"/>
            <a:ext cx="1783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Google Sans Text" pitchFamily="34" charset="0"/>
                <a:ea typeface="Google Sans Text" pitchFamily="34" charset="-122"/>
                <a:cs typeface="Google Sans Text" pitchFamily="34" charset="-120"/>
              </a:rPr>
              <a:t>Run the prompt in your AI image tool.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6665976" y="1828800"/>
            <a:ext cx="731520" cy="731520"/>
          </a:xfrm>
          <a:prstGeom prst="ellipse">
            <a:avLst/>
          </a:prstGeom>
          <a:solidFill>
            <a:srgbClr val="CCF5C6"/>
          </a:solidFill>
          <a:ln w="28575">
            <a:solidFill>
              <a:srgbClr val="202124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665976" y="18288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4</a:t>
            </a:r>
            <a:endParaRPr lang="en-US" sz="2600" dirty="0"/>
          </a:p>
        </p:txBody>
      </p:sp>
      <p:sp>
        <p:nvSpPr>
          <p:cNvPr id="19" name="Text 16"/>
          <p:cNvSpPr txBox="1"/>
          <p:nvPr/>
        </p:nvSpPr>
        <p:spPr>
          <a:xfrm>
            <a:off x="6665976" y="27432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Score</a:t>
            </a:r>
            <a:endParaRPr lang="en-US" sz="2000" dirty="0"/>
          </a:p>
        </p:txBody>
      </p:sp>
      <p:sp>
        <p:nvSpPr>
          <p:cNvPr id="20" name="Text 17"/>
          <p:cNvSpPr txBox="1"/>
          <p:nvPr/>
        </p:nvSpPr>
        <p:spPr>
          <a:xfrm>
            <a:off x="6665976" y="3200400"/>
            <a:ext cx="1783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Google Sans Text" pitchFamily="34" charset="0"/>
                <a:ea typeface="Google Sans Text" pitchFamily="34" charset="-122"/>
                <a:cs typeface="Google Sans Text" pitchFamily="34" charset="-120"/>
              </a:rPr>
              <a:t>Judges score how similar your image is.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630936" y="4206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The timer starts as soon as the image appears.</a:t>
            </a:r>
            <a:endParaRPr lang="en-US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630936" y="468172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368"/>
                </a:solidFill>
                <a:latin typeface="Google Sans Text" pitchFamily="34" charset="0"/>
                <a:ea typeface="Google Sans Text" pitchFamily="34" charset="-122"/>
                <a:cs typeface="Google Sans Text" pitchFamily="34" charset="-120"/>
              </a:rPr>
              <a:t>Reverse Prompt  |  GDGoC - GTA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8055864" y="468172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368"/>
                </a:solidFill>
                <a:latin typeface="Google Sans Text" pitchFamily="34" charset="0"/>
                <a:ea typeface="Google Sans Text" pitchFamily="34" charset="-122"/>
                <a:cs typeface="Google Sans Text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EEE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30936" y="384048"/>
            <a:ext cx="6949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00000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Rules Per Difficulty.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630936" y="1161288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F6368"/>
                </a:solidFill>
                <a:latin typeface="Google Sans Text" pitchFamily="34" charset="0"/>
                <a:ea typeface="Google Sans Text" pitchFamily="34" charset="-122"/>
                <a:cs typeface="Google Sans Text" pitchFamily="34" charset="-120"/>
              </a:rPr>
              <a:t>More time, less help as you go up</a:t>
            </a:r>
            <a:endParaRPr lang="en-US" sz="1600" dirty="0"/>
          </a:p>
        </p:txBody>
      </p:sp>
      <p:pic>
        <p:nvPicPr>
          <p:cNvPr id="4" name="Image 0" descr="assets/chev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7254" y="457200"/>
            <a:ext cx="1105810" cy="6400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30936" y="1783080"/>
            <a:ext cx="2444496" cy="2697480"/>
          </a:xfrm>
          <a:prstGeom prst="roundRect">
            <a:avLst>
              <a:gd name="adj" fmla="val 6733"/>
            </a:avLst>
          </a:prstGeom>
          <a:solidFill>
            <a:srgbClr val="CCF5C6"/>
          </a:solidFill>
          <a:ln w="25400">
            <a:solidFill>
              <a:srgbClr val="202124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59536" y="1965960"/>
            <a:ext cx="198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00000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EASY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859536" y="2423160"/>
            <a:ext cx="19872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3 min/img</a:t>
            </a:r>
            <a:endParaRPr lang="en-US" sz="3200" dirty="0"/>
          </a:p>
        </p:txBody>
      </p:sp>
      <p:sp>
        <p:nvSpPr>
          <p:cNvPr id="8" name="Text 5"/>
          <p:cNvSpPr txBox="1"/>
          <p:nvPr/>
        </p:nvSpPr>
        <p:spPr>
          <a:xfrm>
            <a:off x="859536" y="3108960"/>
            <a:ext cx="198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6368"/>
                </a:solidFill>
                <a:latin typeface="Google Sans Text" pitchFamily="34" charset="0"/>
                <a:ea typeface="Google Sans Text" pitchFamily="34" charset="-122"/>
                <a:cs typeface="Google Sans Text" pitchFamily="34" charset="-120"/>
              </a:rPr>
              <a:t>Time limit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859536" y="3611880"/>
            <a:ext cx="19872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Google Sans Text" pitchFamily="34" charset="0"/>
                <a:ea typeface="Google Sans Text" pitchFamily="34" charset="-122"/>
                <a:cs typeface="Google Sans Text" pitchFamily="34" charset="-120"/>
              </a:rPr>
              <a:t>Overview provided in depth.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3349752" y="1783080"/>
            <a:ext cx="2444496" cy="2697480"/>
          </a:xfrm>
          <a:prstGeom prst="roundRect">
            <a:avLst>
              <a:gd name="adj" fmla="val 6733"/>
            </a:avLst>
          </a:prstGeom>
          <a:solidFill>
            <a:srgbClr val="FFE8A3"/>
          </a:solidFill>
          <a:ln w="25400">
            <a:solidFill>
              <a:srgbClr val="202124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578352" y="1965960"/>
            <a:ext cx="198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00000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MEDIUM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3578352" y="2423160"/>
            <a:ext cx="19872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5 min/img</a:t>
            </a:r>
            <a:endParaRPr lang="en-US" sz="3200" dirty="0"/>
          </a:p>
        </p:txBody>
      </p:sp>
      <p:sp>
        <p:nvSpPr>
          <p:cNvPr id="13" name="Text 10"/>
          <p:cNvSpPr txBox="1"/>
          <p:nvPr/>
        </p:nvSpPr>
        <p:spPr>
          <a:xfrm>
            <a:off x="3578352" y="3108960"/>
            <a:ext cx="198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6368"/>
                </a:solidFill>
                <a:latin typeface="Google Sans Text" pitchFamily="34" charset="0"/>
                <a:ea typeface="Google Sans Text" pitchFamily="34" charset="-122"/>
                <a:cs typeface="Google Sans Text" pitchFamily="34" charset="-120"/>
              </a:rPr>
              <a:t>Time limit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3578352" y="3611880"/>
            <a:ext cx="19872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Google Sans Text" pitchFamily="34" charset="0"/>
                <a:ea typeface="Google Sans Text" pitchFamily="34" charset="-122"/>
                <a:cs typeface="Google Sans Text" pitchFamily="34" charset="-120"/>
              </a:rPr>
              <a:t>Little overview provided.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6068568" y="1783080"/>
            <a:ext cx="2444496" cy="2697480"/>
          </a:xfrm>
          <a:prstGeom prst="roundRect">
            <a:avLst>
              <a:gd name="adj" fmla="val 6733"/>
            </a:avLst>
          </a:prstGeom>
          <a:solidFill>
            <a:srgbClr val="F8D7DA"/>
          </a:solidFill>
          <a:ln w="25400">
            <a:solidFill>
              <a:srgbClr val="202124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297168" y="1965960"/>
            <a:ext cx="198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00000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HARD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6297168" y="2423160"/>
            <a:ext cx="19872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8 min</a:t>
            </a:r>
            <a:endParaRPr lang="en-US" sz="3200" dirty="0"/>
          </a:p>
        </p:txBody>
      </p:sp>
      <p:sp>
        <p:nvSpPr>
          <p:cNvPr id="18" name="Text 15"/>
          <p:cNvSpPr txBox="1"/>
          <p:nvPr/>
        </p:nvSpPr>
        <p:spPr>
          <a:xfrm>
            <a:off x="6297168" y="3108960"/>
            <a:ext cx="198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6368"/>
                </a:solidFill>
                <a:latin typeface="Google Sans Text" pitchFamily="34" charset="0"/>
                <a:ea typeface="Google Sans Text" pitchFamily="34" charset="-122"/>
                <a:cs typeface="Google Sans Text" pitchFamily="34" charset="-120"/>
              </a:rPr>
              <a:t>Time limit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6297168" y="3611880"/>
            <a:ext cx="19872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Google Sans Text" pitchFamily="34" charset="0"/>
                <a:ea typeface="Google Sans Text" pitchFamily="34" charset="-122"/>
                <a:cs typeface="Google Sans Text" pitchFamily="34" charset="-120"/>
              </a:rPr>
              <a:t>No instructions for the image.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630936" y="468172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368"/>
                </a:solidFill>
                <a:latin typeface="Google Sans Text" pitchFamily="34" charset="0"/>
                <a:ea typeface="Google Sans Text" pitchFamily="34" charset="-122"/>
                <a:cs typeface="Google Sans Text" pitchFamily="34" charset="-120"/>
              </a:rPr>
              <a:t>Reverse Prompt  |  GDGoC - GTA</a:t>
            </a:r>
            <a:endParaRPr lang="en-US" sz="1000" dirty="0"/>
          </a:p>
        </p:txBody>
      </p:sp>
      <p:sp>
        <p:nvSpPr>
          <p:cNvPr id="21" name="Text 18"/>
          <p:cNvSpPr txBox="1"/>
          <p:nvPr/>
        </p:nvSpPr>
        <p:spPr>
          <a:xfrm>
            <a:off x="8055864" y="468172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368"/>
                </a:solidFill>
                <a:latin typeface="Google Sans Text" pitchFamily="34" charset="0"/>
                <a:ea typeface="Google Sans Text" pitchFamily="34" charset="-122"/>
                <a:cs typeface="Google Sans Text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EEE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30936" y="384048"/>
            <a:ext cx="6949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00000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Scoring.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630936" y="1161288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F6368"/>
                </a:solidFill>
                <a:latin typeface="Google Sans Text" pitchFamily="34" charset="0"/>
                <a:ea typeface="Google Sans Text" pitchFamily="34" charset="-122"/>
                <a:cs typeface="Google Sans Text" pitchFamily="34" charset="-120"/>
              </a:rPr>
              <a:t>100 points across three difficulty levels</a:t>
            </a:r>
            <a:endParaRPr lang="en-US" sz="1600" dirty="0"/>
          </a:p>
        </p:txBody>
      </p:sp>
      <p:pic>
        <p:nvPicPr>
          <p:cNvPr id="4" name="Image 0" descr="assets/dots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68890" y="457200"/>
            <a:ext cx="344174" cy="7315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30936" y="1691640"/>
            <a:ext cx="2444496" cy="1965960"/>
          </a:xfrm>
          <a:prstGeom prst="roundRect">
            <a:avLst>
              <a:gd name="adj" fmla="val 8372"/>
            </a:avLst>
          </a:prstGeom>
          <a:solidFill>
            <a:srgbClr val="CCF5C6"/>
          </a:solidFill>
          <a:ln w="25400">
            <a:solidFill>
              <a:srgbClr val="202124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59536" y="1810512"/>
            <a:ext cx="1987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00000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EASY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859536" y="2103120"/>
            <a:ext cx="19872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00000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20</a:t>
            </a:r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Google Sans Text" pitchFamily="34" charset="0"/>
                <a:ea typeface="Google Sans Text" pitchFamily="34" charset="-122"/>
                <a:cs typeface="Google Sans Text" pitchFamily="34" charset="-120"/>
              </a:rPr>
              <a:t>  points</a:t>
            </a:r>
            <a:endParaRPr lang="en-US" sz="4400" dirty="0"/>
          </a:p>
        </p:txBody>
      </p:sp>
      <p:sp>
        <p:nvSpPr>
          <p:cNvPr id="8" name="Text 5"/>
          <p:cNvSpPr txBox="1"/>
          <p:nvPr/>
        </p:nvSpPr>
        <p:spPr>
          <a:xfrm>
            <a:off x="859536" y="2926080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Google Sans Text" pitchFamily="34" charset="0"/>
                <a:ea typeface="Google Sans Text" pitchFamily="34" charset="-122"/>
                <a:cs typeface="Google Sans Text" pitchFamily="34" charset="-120"/>
              </a:rPr>
              <a:t>Round 1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1886712" y="2926080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10 pts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859536" y="3200400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Google Sans Text" pitchFamily="34" charset="0"/>
                <a:ea typeface="Google Sans Text" pitchFamily="34" charset="-122"/>
                <a:cs typeface="Google Sans Text" pitchFamily="34" charset="-120"/>
              </a:rPr>
              <a:t>Round 2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1886712" y="3200400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10 pts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3349752" y="1691640"/>
            <a:ext cx="2444496" cy="1965960"/>
          </a:xfrm>
          <a:prstGeom prst="roundRect">
            <a:avLst>
              <a:gd name="adj" fmla="val 8372"/>
            </a:avLst>
          </a:prstGeom>
          <a:solidFill>
            <a:srgbClr val="FFE8A3"/>
          </a:solidFill>
          <a:ln w="25400">
            <a:solidFill>
              <a:srgbClr val="202124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578352" y="1810512"/>
            <a:ext cx="1987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00000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MEDIUM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3578352" y="2103120"/>
            <a:ext cx="19872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00000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50</a:t>
            </a:r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Google Sans Text" pitchFamily="34" charset="0"/>
                <a:ea typeface="Google Sans Text" pitchFamily="34" charset="-122"/>
                <a:cs typeface="Google Sans Text" pitchFamily="34" charset="-120"/>
              </a:rPr>
              <a:t>  points</a:t>
            </a:r>
            <a:endParaRPr lang="en-US" sz="4400" dirty="0"/>
          </a:p>
        </p:txBody>
      </p:sp>
      <p:sp>
        <p:nvSpPr>
          <p:cNvPr id="15" name="Text 12"/>
          <p:cNvSpPr txBox="1"/>
          <p:nvPr/>
        </p:nvSpPr>
        <p:spPr>
          <a:xfrm>
            <a:off x="3578352" y="2926080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Google Sans Text" pitchFamily="34" charset="0"/>
                <a:ea typeface="Google Sans Text" pitchFamily="34" charset="-122"/>
                <a:cs typeface="Google Sans Text" pitchFamily="34" charset="-120"/>
              </a:rPr>
              <a:t>Round 1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4605528" y="2926080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25 pts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3578352" y="3200400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Google Sans Text" pitchFamily="34" charset="0"/>
                <a:ea typeface="Google Sans Text" pitchFamily="34" charset="-122"/>
                <a:cs typeface="Google Sans Text" pitchFamily="34" charset="-120"/>
              </a:rPr>
              <a:t>Round 2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4605528" y="3200400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25 pts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6068568" y="1691640"/>
            <a:ext cx="2444496" cy="1965960"/>
          </a:xfrm>
          <a:prstGeom prst="roundRect">
            <a:avLst>
              <a:gd name="adj" fmla="val 8372"/>
            </a:avLst>
          </a:prstGeom>
          <a:solidFill>
            <a:srgbClr val="F8D7DA"/>
          </a:solidFill>
          <a:ln w="25400">
            <a:solidFill>
              <a:srgbClr val="202124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297168" y="1810512"/>
            <a:ext cx="1987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00000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HARD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6297168" y="2103120"/>
            <a:ext cx="19872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00000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30</a:t>
            </a:r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Google Sans Text" pitchFamily="34" charset="0"/>
                <a:ea typeface="Google Sans Text" pitchFamily="34" charset="-122"/>
                <a:cs typeface="Google Sans Text" pitchFamily="34" charset="-120"/>
              </a:rPr>
              <a:t>  points</a:t>
            </a:r>
            <a:endParaRPr lang="en-US" sz="4400" dirty="0"/>
          </a:p>
        </p:txBody>
      </p:sp>
      <p:sp>
        <p:nvSpPr>
          <p:cNvPr id="22" name="Text 19"/>
          <p:cNvSpPr txBox="1"/>
          <p:nvPr/>
        </p:nvSpPr>
        <p:spPr>
          <a:xfrm>
            <a:off x="6297168" y="2926080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Google Sans Text" pitchFamily="34" charset="0"/>
                <a:ea typeface="Google Sans Text" pitchFamily="34" charset="-122"/>
                <a:cs typeface="Google Sans Text" pitchFamily="34" charset="-120"/>
              </a:rPr>
              <a:t>Single round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7324344" y="2926080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30 pts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630936" y="3858768"/>
            <a:ext cx="1576426" cy="274320"/>
          </a:xfrm>
          <a:prstGeom prst="rect">
            <a:avLst/>
          </a:prstGeom>
          <a:solidFill>
            <a:srgbClr val="CCF5C6"/>
          </a:solidFill>
          <a:ln w="25400">
            <a:solidFill>
              <a:srgbClr val="202124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2207362" y="3858768"/>
            <a:ext cx="3941064" cy="274320"/>
          </a:xfrm>
          <a:prstGeom prst="rect">
            <a:avLst/>
          </a:prstGeom>
          <a:solidFill>
            <a:srgbClr val="FFE8A3"/>
          </a:solidFill>
          <a:ln w="25400">
            <a:solidFill>
              <a:srgbClr val="202124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6148426" y="3858768"/>
            <a:ext cx="2364638" cy="274320"/>
          </a:xfrm>
          <a:prstGeom prst="rect">
            <a:avLst/>
          </a:prstGeom>
          <a:solidFill>
            <a:srgbClr val="F8D7DA"/>
          </a:solidFill>
          <a:ln w="25400">
            <a:solidFill>
              <a:srgbClr val="202124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30936" y="422452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6368"/>
                </a:solidFill>
                <a:latin typeface="Google Sans Text" pitchFamily="34" charset="0"/>
                <a:ea typeface="Google Sans Text" pitchFamily="34" charset="-122"/>
                <a:cs typeface="Google Sans Text" pitchFamily="34" charset="-120"/>
              </a:rPr>
              <a:t>EASY 20  ·  MEDIUM 50  ·  HARD 30</a:t>
            </a:r>
            <a:endParaRPr lang="en-US" sz="1200" dirty="0"/>
          </a:p>
        </p:txBody>
      </p:sp>
      <p:sp>
        <p:nvSpPr>
          <p:cNvPr id="28" name="Text 25"/>
          <p:cNvSpPr txBox="1"/>
          <p:nvPr/>
        </p:nvSpPr>
        <p:spPr>
          <a:xfrm>
            <a:off x="6227064" y="422452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100 pts total</a:t>
            </a:r>
            <a:endParaRPr lang="en-US" sz="1300" dirty="0"/>
          </a:p>
        </p:txBody>
      </p:sp>
      <p:sp>
        <p:nvSpPr>
          <p:cNvPr id="29" name="Text 26"/>
          <p:cNvSpPr txBox="1"/>
          <p:nvPr/>
        </p:nvSpPr>
        <p:spPr>
          <a:xfrm>
            <a:off x="630936" y="468172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368"/>
                </a:solidFill>
                <a:latin typeface="Google Sans Text" pitchFamily="34" charset="0"/>
                <a:ea typeface="Google Sans Text" pitchFamily="34" charset="-122"/>
                <a:cs typeface="Google Sans Text" pitchFamily="34" charset="-120"/>
              </a:rPr>
              <a:t>Reverse Prompt  |  GDGoC - GTA</a:t>
            </a:r>
            <a:endParaRPr lang="en-US" sz="1000" dirty="0"/>
          </a:p>
        </p:txBody>
      </p:sp>
      <p:sp>
        <p:nvSpPr>
          <p:cNvPr id="30" name="Text 27"/>
          <p:cNvSpPr txBox="1"/>
          <p:nvPr/>
        </p:nvSpPr>
        <p:spPr>
          <a:xfrm>
            <a:off x="8055864" y="468172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368"/>
                </a:solidFill>
                <a:latin typeface="Google Sans Text" pitchFamily="34" charset="0"/>
                <a:ea typeface="Google Sans Text" pitchFamily="34" charset="-122"/>
                <a:cs typeface="Google Sans Text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EEE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30936" y="384048"/>
            <a:ext cx="6949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00000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Easy · Round 1.</a:t>
            </a:r>
            <a:endParaRPr lang="en-US" sz="4400" dirty="0"/>
          </a:p>
        </p:txBody>
      </p:sp>
      <p:pic>
        <p:nvPicPr>
          <p:cNvPr id="3" name="Image 0" descr="assets/chev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708" y="457200"/>
            <a:ext cx="1106356" cy="640080"/>
          </a:xfrm>
          <a:prstGeom prst="rect">
            <a:avLst/>
          </a:prstGeom>
        </p:spPr>
      </p:pic>
      <p:pic>
        <p:nvPicPr>
          <p:cNvPr id="4" name="Image 1" descr="assets/easy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" y="1417320"/>
            <a:ext cx="5120640" cy="2860358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630936" y="1417320"/>
            <a:ext cx="5120640" cy="2860358"/>
          </a:xfrm>
          <a:prstGeom prst="rect">
            <a:avLst/>
          </a:prstGeom>
          <a:ln w="28575">
            <a:solidFill>
              <a:srgbClr val="202124"/>
            </a:solidFill>
            <a:prstDash val="solid"/>
          </a:ln>
        </p:spPr>
      </p:sp>
      <p:sp>
        <p:nvSpPr>
          <p:cNvPr id="6" name="Shape 2"/>
          <p:cNvSpPr/>
          <p:nvPr/>
        </p:nvSpPr>
        <p:spPr>
          <a:xfrm>
            <a:off x="6025896" y="1417320"/>
            <a:ext cx="2487168" cy="1188720"/>
          </a:xfrm>
          <a:prstGeom prst="roundRect">
            <a:avLst>
              <a:gd name="adj" fmla="val 13846"/>
            </a:avLst>
          </a:prstGeom>
          <a:solidFill>
            <a:srgbClr val="CCF5C6"/>
          </a:solidFill>
          <a:ln w="25400">
            <a:solidFill>
              <a:srgbClr val="202124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6227064" y="1554480"/>
            <a:ext cx="21214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0000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TIME LIMIT</a:t>
            </a:r>
            <a:endParaRPr lang="en-US" sz="1100" dirty="0"/>
          </a:p>
        </p:txBody>
      </p:sp>
      <p:sp>
        <p:nvSpPr>
          <p:cNvPr id="8" name="Text 4"/>
          <p:cNvSpPr txBox="1"/>
          <p:nvPr/>
        </p:nvSpPr>
        <p:spPr>
          <a:xfrm>
            <a:off x="6227064" y="1828800"/>
            <a:ext cx="21214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00000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3:00</a:t>
            </a:r>
            <a:endParaRPr lang="en-US" sz="4400" dirty="0"/>
          </a:p>
        </p:txBody>
      </p:sp>
      <p:sp>
        <p:nvSpPr>
          <p:cNvPr id="9" name="Shape 5"/>
          <p:cNvSpPr/>
          <p:nvPr/>
        </p:nvSpPr>
        <p:spPr>
          <a:xfrm>
            <a:off x="6025896" y="2788920"/>
            <a:ext cx="2487168" cy="1488757"/>
          </a:xfrm>
          <a:prstGeom prst="roundRect">
            <a:avLst>
              <a:gd name="adj" fmla="val 11056"/>
            </a:avLst>
          </a:prstGeom>
          <a:solidFill>
            <a:srgbClr val="FFFFFF"/>
          </a:solidFill>
          <a:ln w="25400">
            <a:solidFill>
              <a:srgbClr val="202124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6227064" y="2926080"/>
            <a:ext cx="21214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0000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PROMPT HINT</a:t>
            </a:r>
            <a:endParaRPr lang="en-US" sz="1100" dirty="0"/>
          </a:p>
        </p:txBody>
      </p:sp>
      <p:sp>
        <p:nvSpPr>
          <p:cNvPr id="11" name="Text 7"/>
          <p:cNvSpPr txBox="1"/>
          <p:nvPr/>
        </p:nvSpPr>
        <p:spPr>
          <a:xfrm>
            <a:off x="6227064" y="3200400"/>
            <a:ext cx="2121408" cy="9858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Google Sans Text" pitchFamily="34" charset="0"/>
                <a:ea typeface="Google Sans Text" pitchFamily="34" charset="-122"/>
                <a:cs typeface="Google Sans Text" pitchFamily="34" charset="-120"/>
              </a:rPr>
              <a:t>Robotic Doberman dog, glowing blue collar, standing in a rainy cyberpunk city street, neon pink and blue lights, highly detailed 3D render.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630936" y="468172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368"/>
                </a:solidFill>
                <a:latin typeface="Google Sans Text" pitchFamily="34" charset="0"/>
                <a:ea typeface="Google Sans Text" pitchFamily="34" charset="-122"/>
                <a:cs typeface="Google Sans Text" pitchFamily="34" charset="-120"/>
              </a:rPr>
              <a:t>Reverse Prompt  |  GDGoC - GTA</a:t>
            </a:r>
            <a:endParaRPr lang="en-US" sz="1000" dirty="0"/>
          </a:p>
        </p:txBody>
      </p:sp>
      <p:sp>
        <p:nvSpPr>
          <p:cNvPr id="13" name="Text 9"/>
          <p:cNvSpPr txBox="1"/>
          <p:nvPr/>
        </p:nvSpPr>
        <p:spPr>
          <a:xfrm>
            <a:off x="4206240" y="468172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368"/>
                </a:solidFill>
                <a:latin typeface="Google Sans Text" pitchFamily="34" charset="0"/>
                <a:ea typeface="Google Sans Text" pitchFamily="34" charset="-122"/>
                <a:cs typeface="Google Sans Text" pitchFamily="34" charset="-120"/>
              </a:rPr>
              <a:t>Overview provided in depth</a:t>
            </a:r>
            <a:endParaRPr lang="en-US" sz="1000" dirty="0"/>
          </a:p>
        </p:txBody>
      </p:sp>
      <p:sp>
        <p:nvSpPr>
          <p:cNvPr id="14" name="Text 10"/>
          <p:cNvSpPr txBox="1"/>
          <p:nvPr/>
        </p:nvSpPr>
        <p:spPr>
          <a:xfrm>
            <a:off x="8055864" y="468172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368"/>
                </a:solidFill>
                <a:latin typeface="Google Sans Text" pitchFamily="34" charset="0"/>
                <a:ea typeface="Google Sans Text" pitchFamily="34" charset="-122"/>
                <a:cs typeface="Google Sans Text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EEE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30936" y="384048"/>
            <a:ext cx="6949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00000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Easy · Round 2.</a:t>
            </a:r>
            <a:endParaRPr lang="en-US" sz="4400" dirty="0"/>
          </a:p>
        </p:txBody>
      </p:sp>
      <p:pic>
        <p:nvPicPr>
          <p:cNvPr id="3" name="Image 0" descr="assets/dots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11912" y="457200"/>
            <a:ext cx="301152" cy="640080"/>
          </a:xfrm>
          <a:prstGeom prst="rect">
            <a:avLst/>
          </a:prstGeom>
        </p:spPr>
      </p:pic>
      <p:pic>
        <p:nvPicPr>
          <p:cNvPr id="4" name="Image 1" descr="assets/easy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" y="1417320"/>
            <a:ext cx="5120640" cy="2860358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630936" y="1417320"/>
            <a:ext cx="5120640" cy="2860358"/>
          </a:xfrm>
          <a:prstGeom prst="rect">
            <a:avLst/>
          </a:prstGeom>
          <a:ln w="28575">
            <a:solidFill>
              <a:srgbClr val="202124"/>
            </a:solidFill>
            <a:prstDash val="solid"/>
          </a:ln>
        </p:spPr>
      </p:sp>
      <p:sp>
        <p:nvSpPr>
          <p:cNvPr id="6" name="Shape 2"/>
          <p:cNvSpPr/>
          <p:nvPr/>
        </p:nvSpPr>
        <p:spPr>
          <a:xfrm>
            <a:off x="6025896" y="1417320"/>
            <a:ext cx="2487168" cy="1188720"/>
          </a:xfrm>
          <a:prstGeom prst="roundRect">
            <a:avLst>
              <a:gd name="adj" fmla="val 13846"/>
            </a:avLst>
          </a:prstGeom>
          <a:solidFill>
            <a:srgbClr val="CCF5C6"/>
          </a:solidFill>
          <a:ln w="25400">
            <a:solidFill>
              <a:srgbClr val="202124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6227064" y="1554480"/>
            <a:ext cx="21214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0000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TIME LIMIT</a:t>
            </a:r>
            <a:endParaRPr lang="en-US" sz="1100" dirty="0"/>
          </a:p>
        </p:txBody>
      </p:sp>
      <p:sp>
        <p:nvSpPr>
          <p:cNvPr id="8" name="Text 4"/>
          <p:cNvSpPr txBox="1"/>
          <p:nvPr/>
        </p:nvSpPr>
        <p:spPr>
          <a:xfrm>
            <a:off x="6227064" y="1828800"/>
            <a:ext cx="21214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00000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3:00</a:t>
            </a:r>
            <a:endParaRPr lang="en-US" sz="4400" dirty="0"/>
          </a:p>
        </p:txBody>
      </p:sp>
      <p:sp>
        <p:nvSpPr>
          <p:cNvPr id="9" name="Shape 5"/>
          <p:cNvSpPr/>
          <p:nvPr/>
        </p:nvSpPr>
        <p:spPr>
          <a:xfrm>
            <a:off x="6025896" y="2788920"/>
            <a:ext cx="2487168" cy="1488757"/>
          </a:xfrm>
          <a:prstGeom prst="roundRect">
            <a:avLst>
              <a:gd name="adj" fmla="val 11056"/>
            </a:avLst>
          </a:prstGeom>
          <a:solidFill>
            <a:srgbClr val="FFFFFF"/>
          </a:solidFill>
          <a:ln w="25400">
            <a:solidFill>
              <a:srgbClr val="202124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6227064" y="2926080"/>
            <a:ext cx="21214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0000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PROMPT HINT</a:t>
            </a:r>
            <a:endParaRPr lang="en-US" sz="1100" dirty="0"/>
          </a:p>
        </p:txBody>
      </p:sp>
      <p:sp>
        <p:nvSpPr>
          <p:cNvPr id="11" name="Text 7"/>
          <p:cNvSpPr txBox="1"/>
          <p:nvPr/>
        </p:nvSpPr>
        <p:spPr>
          <a:xfrm>
            <a:off x="6227064" y="3200400"/>
            <a:ext cx="2121408" cy="9858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Google Sans Text" pitchFamily="34" charset="0"/>
                <a:ea typeface="Google Sans Text" pitchFamily="34" charset="-122"/>
                <a:cs typeface="Google Sans Text" pitchFamily="34" charset="-120"/>
              </a:rPr>
              <a:t>Portrait of a cat made of glowing purple and blue neon lights, bright cyan glowing eyes, dark background with laser beams, synthwave style.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630936" y="468172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368"/>
                </a:solidFill>
                <a:latin typeface="Google Sans Text" pitchFamily="34" charset="0"/>
                <a:ea typeface="Google Sans Text" pitchFamily="34" charset="-122"/>
                <a:cs typeface="Google Sans Text" pitchFamily="34" charset="-120"/>
              </a:rPr>
              <a:t>Reverse Prompt  |  GDGoC - GTA</a:t>
            </a:r>
            <a:endParaRPr lang="en-US" sz="1000" dirty="0"/>
          </a:p>
        </p:txBody>
      </p:sp>
      <p:sp>
        <p:nvSpPr>
          <p:cNvPr id="13" name="Text 9"/>
          <p:cNvSpPr txBox="1"/>
          <p:nvPr/>
        </p:nvSpPr>
        <p:spPr>
          <a:xfrm>
            <a:off x="4206240" y="468172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368"/>
                </a:solidFill>
                <a:latin typeface="Google Sans Text" pitchFamily="34" charset="0"/>
                <a:ea typeface="Google Sans Text" pitchFamily="34" charset="-122"/>
                <a:cs typeface="Google Sans Text" pitchFamily="34" charset="-120"/>
              </a:rPr>
              <a:t>Overview provided in depth</a:t>
            </a:r>
            <a:endParaRPr lang="en-US" sz="1000" dirty="0"/>
          </a:p>
        </p:txBody>
      </p:sp>
      <p:sp>
        <p:nvSpPr>
          <p:cNvPr id="14" name="Text 10"/>
          <p:cNvSpPr txBox="1"/>
          <p:nvPr/>
        </p:nvSpPr>
        <p:spPr>
          <a:xfrm>
            <a:off x="8055864" y="468172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368"/>
                </a:solidFill>
                <a:latin typeface="Google Sans Text" pitchFamily="34" charset="0"/>
                <a:ea typeface="Google Sans Text" pitchFamily="34" charset="-122"/>
                <a:cs typeface="Google Sans Text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EEE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30936" y="384048"/>
            <a:ext cx="6949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00000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Medium · Round 1.</a:t>
            </a:r>
            <a:endParaRPr lang="en-US" sz="4400" dirty="0"/>
          </a:p>
        </p:txBody>
      </p:sp>
      <p:pic>
        <p:nvPicPr>
          <p:cNvPr id="3" name="Image 0" descr="assets/star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2984" y="457200"/>
            <a:ext cx="640080" cy="640080"/>
          </a:xfrm>
          <a:prstGeom prst="rect">
            <a:avLst/>
          </a:prstGeom>
        </p:spPr>
      </p:pic>
      <p:pic>
        <p:nvPicPr>
          <p:cNvPr id="4" name="Image 1" descr="assets/med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" y="1417320"/>
            <a:ext cx="5120640" cy="2795349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630936" y="1417320"/>
            <a:ext cx="5120640" cy="2795349"/>
          </a:xfrm>
          <a:prstGeom prst="rect">
            <a:avLst/>
          </a:prstGeom>
          <a:ln w="28575">
            <a:solidFill>
              <a:srgbClr val="202124"/>
            </a:solidFill>
            <a:prstDash val="solid"/>
          </a:ln>
        </p:spPr>
      </p:sp>
      <p:sp>
        <p:nvSpPr>
          <p:cNvPr id="6" name="Shape 2"/>
          <p:cNvSpPr/>
          <p:nvPr/>
        </p:nvSpPr>
        <p:spPr>
          <a:xfrm>
            <a:off x="6025896" y="1417320"/>
            <a:ext cx="2487168" cy="1188720"/>
          </a:xfrm>
          <a:prstGeom prst="roundRect">
            <a:avLst>
              <a:gd name="adj" fmla="val 13846"/>
            </a:avLst>
          </a:prstGeom>
          <a:solidFill>
            <a:srgbClr val="FFE8A3"/>
          </a:solidFill>
          <a:ln w="25400">
            <a:solidFill>
              <a:srgbClr val="202124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6227064" y="1554480"/>
            <a:ext cx="21214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0000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TIME LIMIT</a:t>
            </a:r>
            <a:endParaRPr lang="en-US" sz="1100" dirty="0"/>
          </a:p>
        </p:txBody>
      </p:sp>
      <p:sp>
        <p:nvSpPr>
          <p:cNvPr id="8" name="Text 4"/>
          <p:cNvSpPr txBox="1"/>
          <p:nvPr/>
        </p:nvSpPr>
        <p:spPr>
          <a:xfrm>
            <a:off x="6227064" y="1828800"/>
            <a:ext cx="21214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00000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5:00</a:t>
            </a:r>
            <a:endParaRPr lang="en-US" sz="4400" dirty="0"/>
          </a:p>
        </p:txBody>
      </p:sp>
      <p:sp>
        <p:nvSpPr>
          <p:cNvPr id="9" name="Shape 5"/>
          <p:cNvSpPr/>
          <p:nvPr/>
        </p:nvSpPr>
        <p:spPr>
          <a:xfrm>
            <a:off x="6025896" y="2788920"/>
            <a:ext cx="2487168" cy="1423749"/>
          </a:xfrm>
          <a:prstGeom prst="roundRect">
            <a:avLst>
              <a:gd name="adj" fmla="val 11560"/>
            </a:avLst>
          </a:prstGeom>
          <a:solidFill>
            <a:srgbClr val="FFFFFF"/>
          </a:solidFill>
          <a:ln w="25400">
            <a:solidFill>
              <a:srgbClr val="202124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6227064" y="2926080"/>
            <a:ext cx="21214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0000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PROMPT HINT</a:t>
            </a:r>
            <a:endParaRPr lang="en-US" sz="1100" dirty="0"/>
          </a:p>
        </p:txBody>
      </p:sp>
      <p:sp>
        <p:nvSpPr>
          <p:cNvPr id="11" name="Text 7"/>
          <p:cNvSpPr txBox="1"/>
          <p:nvPr/>
        </p:nvSpPr>
        <p:spPr>
          <a:xfrm>
            <a:off x="6227064" y="3200400"/>
            <a:ext cx="2121408" cy="9208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Google Sans Text" pitchFamily="34" charset="0"/>
                <a:ea typeface="Google Sans Text" pitchFamily="34" charset="-122"/>
                <a:cs typeface="Google Sans Text" pitchFamily="34" charset="-120"/>
              </a:rPr>
              <a:t>Vintage 1980s boombox radio sitting on a surface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630936" y="468172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368"/>
                </a:solidFill>
                <a:latin typeface="Google Sans Text" pitchFamily="34" charset="0"/>
                <a:ea typeface="Google Sans Text" pitchFamily="34" charset="-122"/>
                <a:cs typeface="Google Sans Text" pitchFamily="34" charset="-120"/>
              </a:rPr>
              <a:t>Reverse Prompt  |  GDGoC - GTA</a:t>
            </a:r>
            <a:endParaRPr lang="en-US" sz="1000" dirty="0"/>
          </a:p>
        </p:txBody>
      </p:sp>
      <p:sp>
        <p:nvSpPr>
          <p:cNvPr id="13" name="Text 9"/>
          <p:cNvSpPr txBox="1"/>
          <p:nvPr/>
        </p:nvSpPr>
        <p:spPr>
          <a:xfrm>
            <a:off x="4206240" y="468172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368"/>
                </a:solidFill>
                <a:latin typeface="Google Sans Text" pitchFamily="34" charset="0"/>
                <a:ea typeface="Google Sans Text" pitchFamily="34" charset="-122"/>
                <a:cs typeface="Google Sans Text" pitchFamily="34" charset="-120"/>
              </a:rPr>
              <a:t>Little overview provided</a:t>
            </a:r>
            <a:endParaRPr lang="en-US" sz="1000" dirty="0"/>
          </a:p>
        </p:txBody>
      </p:sp>
      <p:sp>
        <p:nvSpPr>
          <p:cNvPr id="14" name="Text 10"/>
          <p:cNvSpPr txBox="1"/>
          <p:nvPr/>
        </p:nvSpPr>
        <p:spPr>
          <a:xfrm>
            <a:off x="8055864" y="468172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368"/>
                </a:solidFill>
                <a:latin typeface="Google Sans Text" pitchFamily="34" charset="0"/>
                <a:ea typeface="Google Sans Text" pitchFamily="34" charset="-122"/>
                <a:cs typeface="Google Sans Text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EEE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30936" y="384048"/>
            <a:ext cx="6949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00000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Medium · Round 2.</a:t>
            </a:r>
            <a:endParaRPr lang="en-US" sz="4400" dirty="0"/>
          </a:p>
        </p:txBody>
      </p:sp>
      <p:pic>
        <p:nvPicPr>
          <p:cNvPr id="3" name="Image 0" descr="assets/hash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1689" y="457200"/>
            <a:ext cx="491375" cy="640080"/>
          </a:xfrm>
          <a:prstGeom prst="rect">
            <a:avLst/>
          </a:prstGeom>
        </p:spPr>
      </p:pic>
      <p:pic>
        <p:nvPicPr>
          <p:cNvPr id="4" name="Image 1" descr="assets/med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" y="1417320"/>
            <a:ext cx="5120640" cy="2795349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630936" y="1417320"/>
            <a:ext cx="5120640" cy="2795349"/>
          </a:xfrm>
          <a:prstGeom prst="rect">
            <a:avLst/>
          </a:prstGeom>
          <a:ln w="28575">
            <a:solidFill>
              <a:srgbClr val="202124"/>
            </a:solidFill>
            <a:prstDash val="solid"/>
          </a:ln>
        </p:spPr>
      </p:sp>
      <p:sp>
        <p:nvSpPr>
          <p:cNvPr id="6" name="Shape 2"/>
          <p:cNvSpPr/>
          <p:nvPr/>
        </p:nvSpPr>
        <p:spPr>
          <a:xfrm>
            <a:off x="6025896" y="1417320"/>
            <a:ext cx="2487168" cy="1188720"/>
          </a:xfrm>
          <a:prstGeom prst="roundRect">
            <a:avLst>
              <a:gd name="adj" fmla="val 13846"/>
            </a:avLst>
          </a:prstGeom>
          <a:solidFill>
            <a:srgbClr val="FFE8A3"/>
          </a:solidFill>
          <a:ln w="25400">
            <a:solidFill>
              <a:srgbClr val="202124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6227064" y="1554480"/>
            <a:ext cx="21214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0000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TIME LIMIT</a:t>
            </a:r>
            <a:endParaRPr lang="en-US" sz="1100" dirty="0"/>
          </a:p>
        </p:txBody>
      </p:sp>
      <p:sp>
        <p:nvSpPr>
          <p:cNvPr id="8" name="Text 4"/>
          <p:cNvSpPr txBox="1"/>
          <p:nvPr/>
        </p:nvSpPr>
        <p:spPr>
          <a:xfrm>
            <a:off x="6227064" y="1828800"/>
            <a:ext cx="21214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00000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5:00</a:t>
            </a:r>
            <a:endParaRPr lang="en-US" sz="4400" dirty="0"/>
          </a:p>
        </p:txBody>
      </p:sp>
      <p:sp>
        <p:nvSpPr>
          <p:cNvPr id="9" name="Shape 5"/>
          <p:cNvSpPr/>
          <p:nvPr/>
        </p:nvSpPr>
        <p:spPr>
          <a:xfrm>
            <a:off x="6025896" y="2788920"/>
            <a:ext cx="2487168" cy="1423749"/>
          </a:xfrm>
          <a:prstGeom prst="roundRect">
            <a:avLst>
              <a:gd name="adj" fmla="val 11560"/>
            </a:avLst>
          </a:prstGeom>
          <a:solidFill>
            <a:srgbClr val="FFFFFF"/>
          </a:solidFill>
          <a:ln w="25400">
            <a:solidFill>
              <a:srgbClr val="202124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6227064" y="2926080"/>
            <a:ext cx="21214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0000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PROMPT HINT</a:t>
            </a:r>
            <a:endParaRPr lang="en-US" sz="1100" dirty="0"/>
          </a:p>
        </p:txBody>
      </p:sp>
      <p:sp>
        <p:nvSpPr>
          <p:cNvPr id="11" name="Text 7"/>
          <p:cNvSpPr txBox="1"/>
          <p:nvPr/>
        </p:nvSpPr>
        <p:spPr>
          <a:xfrm>
            <a:off x="6227064" y="3200400"/>
            <a:ext cx="2121408" cy="9208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Google Sans Text" pitchFamily="34" charset="0"/>
                <a:ea typeface="Google Sans Text" pitchFamily="34" charset="-122"/>
                <a:cs typeface="Google Sans Text" pitchFamily="34" charset="-120"/>
              </a:rPr>
              <a:t>Vintage decaying POCKCADE arcade cabinet in a dark derelict gothic hallway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630936" y="468172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368"/>
                </a:solidFill>
                <a:latin typeface="Google Sans Text" pitchFamily="34" charset="0"/>
                <a:ea typeface="Google Sans Text" pitchFamily="34" charset="-122"/>
                <a:cs typeface="Google Sans Text" pitchFamily="34" charset="-120"/>
              </a:rPr>
              <a:t>Reverse Prompt  |  GDGoC - GTA</a:t>
            </a:r>
            <a:endParaRPr lang="en-US" sz="1000" dirty="0"/>
          </a:p>
        </p:txBody>
      </p:sp>
      <p:sp>
        <p:nvSpPr>
          <p:cNvPr id="13" name="Text 9"/>
          <p:cNvSpPr txBox="1"/>
          <p:nvPr/>
        </p:nvSpPr>
        <p:spPr>
          <a:xfrm>
            <a:off x="4206240" y="468172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368"/>
                </a:solidFill>
                <a:latin typeface="Google Sans Text" pitchFamily="34" charset="0"/>
                <a:ea typeface="Google Sans Text" pitchFamily="34" charset="-122"/>
                <a:cs typeface="Google Sans Text" pitchFamily="34" charset="-120"/>
              </a:rPr>
              <a:t>Little overview provided</a:t>
            </a:r>
            <a:endParaRPr lang="en-US" sz="1000" dirty="0"/>
          </a:p>
        </p:txBody>
      </p:sp>
      <p:sp>
        <p:nvSpPr>
          <p:cNvPr id="14" name="Text 10"/>
          <p:cNvSpPr txBox="1"/>
          <p:nvPr/>
        </p:nvSpPr>
        <p:spPr>
          <a:xfrm>
            <a:off x="8055864" y="468172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368"/>
                </a:solidFill>
                <a:latin typeface="Google Sans Text" pitchFamily="34" charset="0"/>
                <a:ea typeface="Google Sans Text" pitchFamily="34" charset="-122"/>
                <a:cs typeface="Google Sans Text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EEE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30936" y="384048"/>
            <a:ext cx="6949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00000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Hard.</a:t>
            </a:r>
            <a:endParaRPr lang="en-US" sz="4400" dirty="0"/>
          </a:p>
        </p:txBody>
      </p:sp>
      <p:pic>
        <p:nvPicPr>
          <p:cNvPr id="3" name="Image 0" descr="assets/blob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58119" y="457200"/>
            <a:ext cx="1454945" cy="548640"/>
          </a:xfrm>
          <a:prstGeom prst="rect">
            <a:avLst/>
          </a:prstGeom>
        </p:spPr>
      </p:pic>
      <p:pic>
        <p:nvPicPr>
          <p:cNvPr id="4" name="Image 1" descr="assets/har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" y="1417320"/>
            <a:ext cx="3017520" cy="301752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630936" y="1417320"/>
            <a:ext cx="3017520" cy="3017520"/>
          </a:xfrm>
          <a:prstGeom prst="rect">
            <a:avLst/>
          </a:prstGeom>
          <a:ln w="28575">
            <a:solidFill>
              <a:srgbClr val="202124"/>
            </a:solidFill>
            <a:prstDash val="solid"/>
          </a:ln>
        </p:spPr>
      </p:sp>
      <p:sp>
        <p:nvSpPr>
          <p:cNvPr id="6" name="Shape 2"/>
          <p:cNvSpPr/>
          <p:nvPr/>
        </p:nvSpPr>
        <p:spPr>
          <a:xfrm>
            <a:off x="3922776" y="1417320"/>
            <a:ext cx="4590288" cy="1188720"/>
          </a:xfrm>
          <a:prstGeom prst="roundRect">
            <a:avLst>
              <a:gd name="adj" fmla="val 13846"/>
            </a:avLst>
          </a:prstGeom>
          <a:solidFill>
            <a:srgbClr val="F8D7DA"/>
          </a:solidFill>
          <a:ln w="25400">
            <a:solidFill>
              <a:srgbClr val="202124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4151376" y="1554480"/>
            <a:ext cx="41330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0000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TIME LIMIT</a:t>
            </a:r>
            <a:endParaRPr lang="en-US" sz="1100" dirty="0"/>
          </a:p>
        </p:txBody>
      </p:sp>
      <p:sp>
        <p:nvSpPr>
          <p:cNvPr id="8" name="Text 4"/>
          <p:cNvSpPr txBox="1"/>
          <p:nvPr/>
        </p:nvSpPr>
        <p:spPr>
          <a:xfrm>
            <a:off x="4151376" y="1828800"/>
            <a:ext cx="41330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00000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8:00</a:t>
            </a:r>
            <a:endParaRPr lang="en-US" sz="4400" dirty="0"/>
          </a:p>
        </p:txBody>
      </p:sp>
      <p:sp>
        <p:nvSpPr>
          <p:cNvPr id="9" name="Shape 5"/>
          <p:cNvSpPr/>
          <p:nvPr/>
        </p:nvSpPr>
        <p:spPr>
          <a:xfrm>
            <a:off x="3922776" y="2788920"/>
            <a:ext cx="4590288" cy="16459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5400">
            <a:solidFill>
              <a:srgbClr val="202124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4151376" y="2926080"/>
            <a:ext cx="41330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0000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HINT</a:t>
            </a:r>
            <a:endParaRPr lang="en-US" sz="1100" dirty="0"/>
          </a:p>
        </p:txBody>
      </p:sp>
      <p:sp>
        <p:nvSpPr>
          <p:cNvPr id="11" name="Text 7"/>
          <p:cNvSpPr txBox="1"/>
          <p:nvPr/>
        </p:nvSpPr>
        <p:spPr>
          <a:xfrm>
            <a:off x="4151376" y="3246120"/>
            <a:ext cx="41330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Google Sans Text" pitchFamily="34" charset="0"/>
                <a:ea typeface="Google Sans Text" pitchFamily="34" charset="-122"/>
                <a:cs typeface="Google Sans Text" pitchFamily="34" charset="-120"/>
              </a:rPr>
              <a:t>No prompt. No description. Study the image and work it out from what you see.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630936" y="468172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368"/>
                </a:solidFill>
                <a:latin typeface="Google Sans Text" pitchFamily="34" charset="0"/>
                <a:ea typeface="Google Sans Text" pitchFamily="34" charset="-122"/>
                <a:cs typeface="Google Sans Text" pitchFamily="34" charset="-120"/>
              </a:rPr>
              <a:t>Reverse Prompt  |  GDGoC - GTA</a:t>
            </a:r>
            <a:endParaRPr lang="en-US" sz="1000" dirty="0"/>
          </a:p>
        </p:txBody>
      </p:sp>
      <p:sp>
        <p:nvSpPr>
          <p:cNvPr id="13" name="Text 9"/>
          <p:cNvSpPr txBox="1"/>
          <p:nvPr/>
        </p:nvSpPr>
        <p:spPr>
          <a:xfrm>
            <a:off x="4206240" y="468172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368"/>
                </a:solidFill>
                <a:latin typeface="Google Sans Text" pitchFamily="34" charset="0"/>
                <a:ea typeface="Google Sans Text" pitchFamily="34" charset="-122"/>
                <a:cs typeface="Google Sans Text" pitchFamily="34" charset="-120"/>
              </a:rPr>
              <a:t>No instructions</a:t>
            </a:r>
            <a:endParaRPr lang="en-US" sz="1000" dirty="0"/>
          </a:p>
        </p:txBody>
      </p:sp>
      <p:sp>
        <p:nvSpPr>
          <p:cNvPr id="14" name="Text 10"/>
          <p:cNvSpPr txBox="1"/>
          <p:nvPr/>
        </p:nvSpPr>
        <p:spPr>
          <a:xfrm>
            <a:off x="8055864" y="468172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368"/>
                </a:solidFill>
                <a:latin typeface="Google Sans Text" pitchFamily="34" charset="0"/>
                <a:ea typeface="Google Sans Text" pitchFamily="34" charset="-122"/>
                <a:cs typeface="Google Sans Text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EEE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30936" y="384048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000000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Thank you for playing.</a:t>
            </a:r>
            <a:endParaRPr lang="en-US" sz="5400" dirty="0"/>
          </a:p>
        </p:txBody>
      </p:sp>
      <p:sp>
        <p:nvSpPr>
          <p:cNvPr id="3" name="Text 1"/>
          <p:cNvSpPr txBox="1"/>
          <p:nvPr/>
        </p:nvSpPr>
        <p:spPr>
          <a:xfrm>
            <a:off x="630936" y="18745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GDGoC - GTA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630936" y="242316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Google Sans Text" pitchFamily="34" charset="0"/>
                <a:ea typeface="Google Sans Text" pitchFamily="34" charset="-122"/>
                <a:cs typeface="Google Sans Text" pitchFamily="34" charset="-120"/>
              </a:rPr>
              <a:t>Time to tally the scores and crown the winning team.</a:t>
            </a:r>
            <a:endParaRPr lang="en-US" sz="1600" dirty="0"/>
          </a:p>
        </p:txBody>
      </p:sp>
      <p:pic>
        <p:nvPicPr>
          <p:cNvPr id="5" name="Image 0" descr="assets/blob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936" y="3547872"/>
            <a:ext cx="2060079" cy="777240"/>
          </a:xfrm>
          <a:prstGeom prst="rect">
            <a:avLst/>
          </a:prstGeom>
        </p:spPr>
      </p:pic>
      <p:pic>
        <p:nvPicPr>
          <p:cNvPr id="6" name="Image 1" descr="assets/star4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7520" y="3483864"/>
            <a:ext cx="914400" cy="914400"/>
          </a:xfrm>
          <a:prstGeom prst="rect">
            <a:avLst/>
          </a:prstGeom>
        </p:spPr>
      </p:pic>
      <p:pic>
        <p:nvPicPr>
          <p:cNvPr id="7" name="Image 2" descr="assets/chev4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75504" y="2286000"/>
            <a:ext cx="1421756" cy="822960"/>
          </a:xfrm>
          <a:prstGeom prst="rect">
            <a:avLst/>
          </a:prstGeom>
        </p:spPr>
      </p:pic>
      <p:pic>
        <p:nvPicPr>
          <p:cNvPr id="8" name="Image 3" descr="assets/dots4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6016" y="2221992"/>
            <a:ext cx="443124" cy="941832"/>
          </a:xfrm>
          <a:prstGeom prst="rect">
            <a:avLst/>
          </a:prstGeom>
        </p:spPr>
      </p:pic>
      <p:pic>
        <p:nvPicPr>
          <p:cNvPr id="9" name="Image 4" descr="assets/hash4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0" y="2240280"/>
            <a:ext cx="701964" cy="914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Reverse Prompt - GDGoC GTA</dc:title>
  <dc:subject>PptxGenJS Presentation</dc:subject>
  <dc:creator>PptxGenJS</dc:creator>
  <cp:lastModifiedBy>PptxGenJS</cp:lastModifiedBy>
  <cp:revision>1</cp:revision>
  <dcterms:created xsi:type="dcterms:W3CDTF">2026-09-30T18:29:10Z</dcterms:created>
  <dcterms:modified xsi:type="dcterms:W3CDTF">2026-09-30T18:29:10Z</dcterms:modified>
</cp:coreProperties>
</file>